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Month 1</c:v>
                  </c:pt>
                  <c:pt idx="1">
                    <c:v>Month 3</c:v>
                  </c:pt>
                  <c:pt idx="2">
                    <c:v>Month 6</c:v>
                  </c:pt>
                  <c:pt idx="3">
                    <c:v>Month 9</c:v>
                  </c:pt>
                  <c:pt idx="4">
                    <c:v>Month 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45</c:v>
                </c:pt>
                <c:pt idx="2">
                  <c:v>85</c:v>
                </c:pt>
                <c:pt idx="3">
                  <c:v>150</c:v>
                </c:pt>
                <c:pt idx="4">
                  <c:v>250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Savings %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Month 1</c:v>
                  </c:pt>
                  <c:pt idx="1">
                    <c:v>Month 3</c:v>
                  </c:pt>
                  <c:pt idx="2">
                    <c:v>Month 6</c:v>
                  </c:pt>
                  <c:pt idx="3">
                    <c:v>Month 9</c:v>
                  </c:pt>
                  <c:pt idx="4">
                    <c:v>Month 12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25</c:v>
                </c:pt>
                <c:pt idx="2">
                  <c:v>50</c:v>
                </c:pt>
                <c:pt idx="3">
                  <c:v>65</c:v>
                </c:pt>
                <c:pt idx="4">
                  <c:v>73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Timeline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Percentage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0" y="575667"/>
            <a:ext cx="1143000" cy="114300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claude/zinovi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670917"/>
            <a:ext cx="952500" cy="95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06474" y="2175867"/>
            <a:ext cx="3730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ZINOVIA.AI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2651672" y="3318867"/>
            <a:ext cx="3840507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Enterprise AI Solutions Platform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2334399" y="4262884"/>
            <a:ext cx="44752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Transform Your Business with Intelligent Automation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Who We Are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9525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918395"/>
            <a:ext cx="8549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Zinovia.ai</a:t>
            </a:r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is a leading AI enablement company specializing in </a:t>
            </a:r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enterprise-grade automation solutions</a:t>
            </a:r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that deliver measurable ROI within weeks, not months.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3213795"/>
            <a:ext cx="2489150" cy="1154311"/>
          </a:xfrm>
          <a:prstGeom prst="roundRect">
            <a:avLst>
              <a:gd name="adj" fmla="val 99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3213795"/>
            <a:ext cx="0" cy="115431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8899" y="3404295"/>
            <a:ext cx="21114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500+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88899" y="3863280"/>
            <a:ext cx="2111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Projects Delivered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27350" y="3213795"/>
            <a:ext cx="2489150" cy="1154311"/>
          </a:xfrm>
          <a:prstGeom prst="roundRect">
            <a:avLst>
              <a:gd name="adj" fmla="val 99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46400" y="3213795"/>
            <a:ext cx="0" cy="115431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5250" y="3404295"/>
            <a:ext cx="21114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98%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35250" y="3863280"/>
            <a:ext cx="2111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Client Satisfaction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3213795"/>
            <a:ext cx="2489150" cy="1154311"/>
          </a:xfrm>
          <a:prstGeom prst="roundRect">
            <a:avLst>
              <a:gd name="adj" fmla="val 99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92751" y="3213795"/>
            <a:ext cx="0" cy="115431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1600" y="3404295"/>
            <a:ext cx="21114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8B5CF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24hrs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481600" y="3863280"/>
            <a:ext cx="2111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Deployment Time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Core AI Solutions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9525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rasterized-gradient-5d9c95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93627"/>
            <a:ext cx="2489150" cy="3461296"/>
          </a:xfrm>
          <a:prstGeom prst="rect">
            <a:avLst/>
          </a:prstGeom>
          <a:effectLst>
            <a:outerShdw sx="100000" sy="100000" kx="0" ky="0" algn="bl" rotWithShape="0" blurRad="142875" dist="38100" dir="5400000">
              <a:srgbClr val="000000">
                <a:alpha val="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28650" y="1641277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1674" y="1767036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🤖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28650" y="2584252"/>
            <a:ext cx="2033727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Chatbots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28650" y="3159472"/>
            <a:ext cx="1993850" cy="14478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50+ language support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Omnichannel integration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Sentiment analysis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24/7 availability</a:t>
            </a:r>
            <a:endParaRPr lang="en-US" sz="1350" dirty="0"/>
          </a:p>
        </p:txBody>
      </p:sp>
      <p:pic>
        <p:nvPicPr>
          <p:cNvPr id="9" name="Image 1" descr="/tmp/rasterized-gradient-0aee521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350" y="1401217"/>
            <a:ext cx="2489150" cy="3445966"/>
          </a:xfrm>
          <a:prstGeom prst="rect">
            <a:avLst/>
          </a:prstGeom>
          <a:effectLst>
            <a:outerShdw sx="100000" sy="100000" kx="0" ky="0" algn="bl" rotWithShape="0" blurRad="142875" dist="38100" dir="5400000">
              <a:srgbClr val="000000">
                <a:alpha val="8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3575000" y="1648867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718024" y="1774627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📄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575000" y="2591842"/>
            <a:ext cx="2033727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Document Intelligence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575000" y="3418433"/>
            <a:ext cx="19938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OCR &amp; data extraction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Smart categorization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Compliance verification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Batch processing</a:t>
            </a:r>
            <a:endParaRPr lang="en-US" sz="1350" dirty="0"/>
          </a:p>
        </p:txBody>
      </p:sp>
      <p:pic>
        <p:nvPicPr>
          <p:cNvPr id="14" name="Image 2" descr="/tmp/rasterized-gradient-58b5c02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701" y="1393627"/>
            <a:ext cx="2489150" cy="3461296"/>
          </a:xfrm>
          <a:prstGeom prst="rect">
            <a:avLst/>
          </a:prstGeom>
          <a:effectLst>
            <a:outerShdw sx="100000" sy="100000" kx="0" ky="0" algn="bl" rotWithShape="0" blurRad="142875" dist="38100" dir="5400000">
              <a:srgbClr val="000000">
                <a:alpha val="8000"/>
              </a:srgbClr>
            </a:outerShdw>
          </a:effectLst>
        </p:spPr>
      </p:pic>
      <p:sp>
        <p:nvSpPr>
          <p:cNvPr id="15" name="Text 10"/>
          <p:cNvSpPr/>
          <p:nvPr/>
        </p:nvSpPr>
        <p:spPr>
          <a:xfrm>
            <a:off x="6521351" y="1641277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664375" y="1767036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⚡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21351" y="2584252"/>
            <a:ext cx="2033727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8B5CF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Agents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521351" y="3159472"/>
            <a:ext cx="1993850" cy="14478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Workflow automation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Multi-agent orchestration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500+ API integrations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Predictive analytics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60430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Industry-Specific Solutions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9525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423243"/>
            <a:ext cx="2667000" cy="1605707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071" y="1670893"/>
            <a:ext cx="22928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2700" dirty="0">
                <a:solidFill>
                  <a:srgbClr val="05080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🏦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8071" y="2246114"/>
            <a:ext cx="229285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Financial Services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8071" y="2499420"/>
            <a:ext cx="22928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Fraud detection, KYC/AML, Risk assessment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38500" y="1423243"/>
            <a:ext cx="2667000" cy="1605707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5571" y="1670893"/>
            <a:ext cx="22928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2700" dirty="0">
                <a:solidFill>
                  <a:srgbClr val="05080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🏥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425571" y="2246114"/>
            <a:ext cx="229285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25571" y="2499420"/>
            <a:ext cx="22928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HIPAA compliance, Patient data, Clinical support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0" y="1423243"/>
            <a:ext cx="2667000" cy="1605707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3071" y="1670893"/>
            <a:ext cx="22928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2700" dirty="0">
                <a:solidFill>
                  <a:srgbClr val="05080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🛒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283071" y="2246114"/>
            <a:ext cx="229285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E-Commerce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83071" y="2499420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Product recommendations, Dynamic pricing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3219450"/>
            <a:ext cx="2667000" cy="1605707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8071" y="3467100"/>
            <a:ext cx="22928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2700" dirty="0">
                <a:solidFill>
                  <a:srgbClr val="05080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🏭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68071" y="4042321"/>
            <a:ext cx="229285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Manufacturing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8071" y="4295626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Predictive maintenance, Quality control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38500" y="3219450"/>
            <a:ext cx="2667000" cy="1605707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25571" y="3467100"/>
            <a:ext cx="22928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2700" dirty="0">
                <a:solidFill>
                  <a:srgbClr val="05080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⚖️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3425571" y="4042321"/>
            <a:ext cx="229285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Legal Services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425571" y="4295626"/>
            <a:ext cx="22928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Contract analysis, Legal research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96000" y="3219450"/>
            <a:ext cx="2667000" cy="1605707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83071" y="3467100"/>
            <a:ext cx="22928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2700" dirty="0">
                <a:solidFill>
                  <a:srgbClr val="05080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🎓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6283071" y="4042321"/>
            <a:ext cx="229285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83071" y="4295626"/>
            <a:ext cx="22928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Personalized learning, Assessment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88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Our Proven Process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9525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76325" y="1585168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03283" y="183281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8094" y="2490043"/>
            <a:ext cx="1418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8094" y="2813893"/>
            <a:ext cx="141846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Understand your needs &amp; challenges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8094" y="3234779"/>
            <a:ext cx="14184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 hours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66900" y="1966168"/>
            <a:ext cx="571500" cy="190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52775" y="1585168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79733" y="183281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24544" y="2490043"/>
            <a:ext cx="1418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Strategy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24544" y="2813893"/>
            <a:ext cx="141846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Custom AI blueprint &amp; roadmap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24544" y="3234779"/>
            <a:ext cx="14184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48 hours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43350" y="1966168"/>
            <a:ext cx="571500" cy="190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29225" y="1585168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56183" y="183281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00994" y="2490043"/>
            <a:ext cx="1418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8B5CF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00994" y="2813893"/>
            <a:ext cx="141846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&amp; integrate solutions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00994" y="3234779"/>
            <a:ext cx="14184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1-2 weeks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19800" y="1966168"/>
            <a:ext cx="571500" cy="190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0" descr="/tmp/rasterized-gradient-977be3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5675" y="1470868"/>
            <a:ext cx="762000" cy="7620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632633" y="171851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977443" y="2375743"/>
            <a:ext cx="1418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Launch &amp; Scale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977443" y="2928193"/>
            <a:ext cx="141846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Deploy &amp; continuous optimization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977443" y="3349079"/>
            <a:ext cx="14184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Ongoing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81000" y="4156770"/>
            <a:ext cx="8382000" cy="620911"/>
          </a:xfrm>
          <a:prstGeom prst="roundRect">
            <a:avLst>
              <a:gd name="adj" fmla="val 1840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1490" y="4347270"/>
            <a:ext cx="81610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Fastest in Industry:</a:t>
            </a:r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From Strategy to Production in Under 24 Hours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5625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Measurable Impact &amp; ROI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9525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415504"/>
            <a:ext cx="3017490" cy="986730"/>
          </a:xfrm>
          <a:prstGeom prst="roundRect">
            <a:avLst>
              <a:gd name="adj" fmla="val 1158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99870" y="1577429"/>
            <a:ext cx="13796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2.5x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15989" y="2006054"/>
            <a:ext cx="27475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Average ROI in Year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630835"/>
            <a:ext cx="3017490" cy="986730"/>
          </a:xfrm>
          <a:prstGeom prst="roundRect">
            <a:avLst>
              <a:gd name="adj" fmla="val 1158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9870" y="2792760"/>
            <a:ext cx="13796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73%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15989" y="3221385"/>
            <a:ext cx="27475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Cost Reduction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3846165"/>
            <a:ext cx="3017490" cy="986730"/>
          </a:xfrm>
          <a:prstGeom prst="roundRect">
            <a:avLst>
              <a:gd name="adj" fmla="val 1158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99870" y="4008090"/>
            <a:ext cx="13796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B5CF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85%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15989" y="4436715"/>
            <a:ext cx="27475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Process Efficiency Gain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55690" y="1306860"/>
            <a:ext cx="4907310" cy="3634680"/>
          </a:xfrm>
          <a:prstGeom prst="roundRect">
            <a:avLst>
              <a:gd name="adj" fmla="val 314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46190" y="1497360"/>
            <a:ext cx="461683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 ROI Timeline</a:t>
            </a:r>
            <a:endParaRPr lang="en-US" sz="13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046190" y="1893540"/>
          <a:ext cx="4526310" cy="285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5022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Technology &amp; Security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9525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221135"/>
            <a:ext cx="384733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Powered by Latest AI Models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3581400"/>
            <a:ext cx="384733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Cloud &amp; Deployment</a:t>
            </a:r>
            <a:endParaRPr lang="en-US" sz="1800" dirty="0"/>
          </a:p>
        </p:txBody>
      </p:sp>
      <p:pic>
        <p:nvPicPr>
          <p:cNvPr id="6" name="Image 0" descr="/tmp/rasterized-gradient-eeb9c3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0100" y="1805880"/>
            <a:ext cx="4152900" cy="2636490"/>
          </a:xfrm>
          <a:prstGeom prst="rect">
            <a:avLst/>
          </a:prstGeom>
          <a:effectLst>
            <a:outerShdw sx="100000" sy="100000" kx="0" ky="0" algn="bl" rotWithShape="0" blurRad="190500" dist="38100" dir="5400000">
              <a:srgbClr val="2563eb">
                <a:alpha val="3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4800600" y="1996380"/>
            <a:ext cx="384733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Enterprise Security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00600" y="2461171"/>
            <a:ext cx="3771900" cy="1790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SOC 2 Type II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Certified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HIPAA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Compliant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GDPR &amp; CCPA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Ready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End-to-End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Encryption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99.9%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Uptime SLA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24/7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Security Monitoring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828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Flexible Pricing Plans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9525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722090"/>
            <a:ext cx="2489150" cy="2899321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8427" y="1979265"/>
            <a:ext cx="2014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8427" y="2348805"/>
            <a:ext cx="2014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Perfect for small teams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8830" y="2725936"/>
            <a:ext cx="15933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7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$2,499</a:t>
            </a:r>
            <a:pPr algn="ctr" indent="0" marL="0">
              <a:lnSpc>
                <a:spcPts val="3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/month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38175" y="3297436"/>
            <a:ext cx="19748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 AI Solution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10K interactions/mo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Basic analytics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65122" y="1489736"/>
            <a:ext cx="2613608" cy="3364327"/>
          </a:xfrm>
          <a:prstGeom prst="roundRect">
            <a:avLst>
              <a:gd name="adj" fmla="val 4373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>
            <a:outerShdw sx="100000" sy="100000" kx="0" ky="0" algn="bl" rotWithShape="0" blurRad="285750" dist="76200" dir="5400000">
              <a:srgbClr val="2563eb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14420" y="1759770"/>
            <a:ext cx="2115011" cy="288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14420" y="2147787"/>
            <a:ext cx="2115011" cy="195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 growing businesses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35343" y="2543774"/>
            <a:ext cx="16730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7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$7,999</a:t>
            </a:r>
            <a:pPr algn="ctr" indent="0" marL="0">
              <a:lnSpc>
                <a:spcPts val="3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/month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535155" y="3143849"/>
            <a:ext cx="2073541" cy="12401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AI Solutions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Unlimited interactions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Priority support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Custom integrations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73701" y="1569839"/>
            <a:ext cx="2489150" cy="3204121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11128" y="1827014"/>
            <a:ext cx="2014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1128" y="2196554"/>
            <a:ext cx="2014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Custom solutions at scale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62405" y="2573685"/>
            <a:ext cx="13115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Custom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530876" y="3145185"/>
            <a:ext cx="19748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Unlimited Solutions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White-label options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Dedicated team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24/7 support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5032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 Success Stories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9525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159073"/>
            <a:ext cx="3962400" cy="1710630"/>
          </a:xfrm>
          <a:prstGeom prst="roundRect">
            <a:avLst>
              <a:gd name="adj" fmla="val 6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159073"/>
            <a:ext cx="0" cy="171063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482923"/>
            <a:ext cx="361416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125"/>
              </a:spcAft>
              <a:buNone/>
            </a:pPr>
            <a:r>
              <a:rPr lang="en-US" sz="1125" i="1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Zinovia's AI chatbot reduced our customer support costs by 68% while improving satisfaction scores to 4.8/5.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09600" y="2225873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Sarah Chen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492573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CTO, TechRetail Inc.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259086"/>
            <a:ext cx="3962400" cy="1510605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19650" y="1259086"/>
            <a:ext cx="0" cy="1510605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82936"/>
            <a:ext cx="36141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125"/>
              </a:spcAft>
              <a:buNone/>
            </a:pPr>
            <a:r>
              <a:rPr lang="en-US" sz="1125" i="1" dirty="0">
                <a:solidFill>
                  <a:srgbClr val="0F172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Document processing that took days now happens in minutes. ROI achieved in just 3 months!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029200" y="2125861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Michael Torres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392561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VP Operations, FinanceFirst</a:t>
            </a:r>
            <a:endParaRPr lang="en-US" sz="1050" dirty="0"/>
          </a:p>
        </p:txBody>
      </p:sp>
      <p:pic>
        <p:nvPicPr>
          <p:cNvPr id="14" name="Image 0" descr="/tmp/rasterized-gradient-73f312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326904"/>
            <a:ext cx="8382000" cy="176257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8645" y="3612654"/>
            <a:ext cx="79667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By the Numbers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90875" y="4077444"/>
            <a:ext cx="1097851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15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500+</a:t>
            </a:r>
            <a:endParaRPr lang="en-US" sz="3150" dirty="0"/>
          </a:p>
        </p:txBody>
      </p:sp>
      <p:sp>
        <p:nvSpPr>
          <p:cNvPr id="17" name="Text 14"/>
          <p:cNvSpPr/>
          <p:nvPr/>
        </p:nvSpPr>
        <p:spPr>
          <a:xfrm>
            <a:off x="645287" y="4569470"/>
            <a:ext cx="21891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Happy Clients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022925" y="4077444"/>
            <a:ext cx="1097851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15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15M+</a:t>
            </a:r>
            <a:endParaRPr lang="en-US" sz="3150" dirty="0"/>
          </a:p>
        </p:txBody>
      </p:sp>
      <p:sp>
        <p:nvSpPr>
          <p:cNvPr id="19" name="Text 16"/>
          <p:cNvSpPr/>
          <p:nvPr/>
        </p:nvSpPr>
        <p:spPr>
          <a:xfrm>
            <a:off x="3477338" y="4569470"/>
            <a:ext cx="21891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Interactions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655808" y="4077444"/>
            <a:ext cx="1496187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150" b="1" dirty="0">
                <a:solidFill>
                  <a:srgbClr val="8B5CF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$450M+</a:t>
            </a:r>
            <a:endParaRPr lang="en-US" sz="3150" dirty="0"/>
          </a:p>
        </p:txBody>
      </p:sp>
      <p:sp>
        <p:nvSpPr>
          <p:cNvPr id="21" name="Text 18"/>
          <p:cNvSpPr/>
          <p:nvPr/>
        </p:nvSpPr>
        <p:spPr>
          <a:xfrm>
            <a:off x="6309388" y="4569470"/>
            <a:ext cx="21891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Client Savings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zinovi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851" y="577155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51054" y="1796355"/>
            <a:ext cx="544174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Ready to Transform?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1948209" y="2786955"/>
            <a:ext cx="5247433" cy="293340"/>
          </a:xfrm>
          <a:prstGeom prst="rect">
            <a:avLst/>
          </a:prstGeom>
          <a:noFill/>
          <a:ln/>
        </p:spPr>
        <p:txBody>
          <a:bodyPr wrap="square" lIns="571500" tIns="0" rIns="57150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60A5F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Join 500+ companies already leveraging AI</a:t>
            </a:r>
            <a:endParaRPr lang="en-US" sz="1650" dirty="0"/>
          </a:p>
        </p:txBody>
      </p:sp>
      <p:pic>
        <p:nvPicPr>
          <p:cNvPr id="5" name="Image 1" descr="/tmp/rasterized-gradient-a361b3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715" y="3823246"/>
            <a:ext cx="2021830" cy="647700"/>
          </a:xfrm>
          <a:prstGeom prst="rect">
            <a:avLst/>
          </a:prstGeom>
          <a:effectLst>
            <a:outerShdw sx="100000" sy="100000" kx="0" ky="0" algn="bl" rotWithShape="0" blurRad="285750" dist="76200" dir="5400000">
              <a:srgbClr val="2563eb">
                <a:alpha val="4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2754117" y="4013746"/>
            <a:ext cx="12850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Start Free Trial</a:t>
            </a:r>
            <a:endParaRPr lang="en-US" sz="1500" dirty="0"/>
          </a:p>
        </p:txBody>
      </p:sp>
      <p:pic>
        <p:nvPicPr>
          <p:cNvPr id="7" name="Image 2" descr="/tmp/rasterized-gradient-35a8ba7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461" y="3823246"/>
            <a:ext cx="2117527" cy="647700"/>
          </a:xfrm>
          <a:prstGeom prst="rect">
            <a:avLst/>
          </a:prstGeom>
          <a:effectLst>
            <a:outerShdw sx="100000" sy="100000" kx="0" ky="0" algn="bl" rotWithShape="0" blurRad="285750" dist="76200" dir="5400000">
              <a:srgbClr val="2563eb">
                <a:alpha val="40000"/>
              </a:srgbClr>
            </a:outerShdw>
          </a:effectLst>
        </p:spPr>
      </p:pic>
      <p:sp>
        <p:nvSpPr>
          <p:cNvPr id="8" name="Text 3"/>
          <p:cNvSpPr/>
          <p:nvPr/>
        </p:nvSpPr>
        <p:spPr>
          <a:xfrm>
            <a:off x="5007906" y="4013746"/>
            <a:ext cx="13826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Schedule Demo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Zinovia AI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Zinovia - Enterprise AI Solutions Platform</dc:title>
  <dc:subject>AI Automation and Enablement Services</dc:subject>
  <dc:creator>Zinovia.ai</dc:creator>
  <cp:lastModifiedBy>Zinovia.ai</cp:lastModifiedBy>
  <cp:revision>1</cp:revision>
  <dcterms:created xsi:type="dcterms:W3CDTF">2025-11-01T21:12:51Z</dcterms:created>
  <dcterms:modified xsi:type="dcterms:W3CDTF">2025-11-01T21:12:51Z</dcterms:modified>
</cp:coreProperties>
</file>